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457200"/>
            <a:ext cx="5486400" cy="914400"/>
            <a:chOff x="457200" y="457200"/>
            <a:chExt cx="5486400" cy="914400"/>
          </a:xfrm>
        </p:grpSpPr>
        <p:sp>
          <p:nvSpPr>
            <p:cNvPr id="3" name="TextBox 2"/>
            <p:cNvSpPr txBox="1"/>
            <p:nvPr/>
          </p:nvSpPr>
          <p:spPr>
            <a:xfrm>
              <a:off x="457200" y="457200"/>
              <a:ext cx="54864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숙박비 상한(그룹 안)</a:t>
              </a:r>
            </a:p>
          </p:txBody>
        </p:sp>
        <p:graphicFrame>
          <p:nvGraphicFramePr>
            <p:cNvPr id="4" name="Table 3"/>
            <p:cNvGraphicFramePr>
              <a:graphicFrameLocks noGrp="1"/>
            </p:cNvGraphicFramePr>
            <p:nvPr/>
          </p:nvGraphicFramePr>
          <p:xfrm>
            <a:off x="457200" y="1645920"/>
            <a:ext cx="5486400" cy="91440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743200"/>
                  <a:gridCol w="2743200"/>
                </a:tblGrid>
                <a:tr h="457200">
                  <a:tc>
                    <a:txBody>
                      <a:bodyPr/>
                      <a:lstStyle/>
                      <a:p>
                        <a:r>
                          <a:t>광역시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그 밖</a:t>
                        </a:r>
                      </a:p>
                    </a:txBody>
                    <a:tcPr/>
                  </a:tc>
                </a:tr>
                <a:tr h="457200">
                  <a:tc>
                    <a:txBody>
                      <a:bodyPr/>
                      <a:lstStyle/>
                      <a:p>
                        <a:r>
                          <a:t>100,000</a:t>
                        </a:r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r>
                          <a:t>80,000</a:t>
                        </a:r>
                      </a:p>
                    </a:txBody>
                    <a:tcPr/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